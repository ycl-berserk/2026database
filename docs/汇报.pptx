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20 秒：介绍选题、两个界面形态（传统网站 + Text2SQL）以及模拟数据声明。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秒：从三个痛点切入，说明系统不是聊天工具，而是把聊天记录结构化为学习资料。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秒：强调 alice/bob 的课程级权限与 admin 的聚合边界；R01–R10 与报告需求表对应。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秒：主动声明模拟数据；JSON/Markdown 两条导入路径，样例可重新生成。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秒：指着 E-R 图讲 8 个实体与 12 组联系；强调批注/复习弱实体和删除策略。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秒：按五组讲表；重点说明为什么没有冗余 owner_id 和计数列。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秒：1NF/2NF/3NF 各一句；重点讲受控冗余与表达式索引的取舍。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秒：三段式导入；强调预览不写业务表、确认阶段单事务与幂等。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秒：搜索“隔离级别”进入会话详情；说明无模型时纯词法，配置后自动混合检索；AI 建议只回填表单，保存后才写库。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秒：从批注页加入复习，再到队列点“复习一次”，展示间隔翻倍与到期日变化。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秒：讲边表、触发器防环、递归闭包；指出页面拆成 6 张课程子图，避免一张巨图。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秒：指统计页的课程排名、月度活跃、标签 Top、重复检测；说明导出。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秒：提交“每个课程有多少会话和消息？”；强调多层守卫和只读角色兜底。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秒：讲矩阵；现场用 bob 访问编辑 URL 展示 403，admin 只做聚合。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秒：报数字，强调集成测试使用独立 _test 库、验收写入全部回滚。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秒：举 2 个被否方案，说明人机分工；不把 AI 生成当作正确性证明。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 15 秒：一句结论 + 主动说明限制，然后把画面交给报告或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38160" y="-1097280"/>
            <a:ext cx="5669280" cy="5669280"/>
          </a:xfrm>
          <a:prstGeom prst="roundRect">
            <a:avLst>
              <a:gd name="adj" fmla="val 6000"/>
            </a:avLst>
          </a:prstGeom>
          <a:solidFill>
            <a:srgbClr val="2B5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3108960"/>
            <a:ext cx="4206240" cy="4206240"/>
          </a:xfrm>
          <a:prstGeom prst="roundRect">
            <a:avLst>
              <a:gd name="adj" fmla="val 6000"/>
            </a:avLst>
          </a:prstGeom>
          <a:solidFill>
            <a:srgbClr val="375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713232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C8A8"/>
                </a:solidFill>
                <a:latin typeface="Microsoft YaHei"/>
              </a:rPr>
              <a:t>数据库系统概论 · 大作业汇报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863840" cy="11430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个人学习空间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6766560" cy="9144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0">
                <a:solidFill>
                  <a:srgbClr val="E8E3D3"/>
                </a:solidFill>
                <a:latin typeface="Microsoft YaHei"/>
              </a:rPr>
              <a:t>把与大模型的聊天记录</a:t>
            </a:r>
          </a:p>
          <a:p>
            <a:pPr algn="l">
              <a:lnSpc>
                <a:spcPct val="122000"/>
              </a:lnSpc>
            </a:pPr>
            <a:r>
              <a:rPr sz="2200" b="0">
                <a:solidFill>
                  <a:srgbClr val="E8E3D3"/>
                </a:solidFill>
                <a:latin typeface="Microsoft YaHei"/>
              </a:rPr>
              <a:t>变成可查阅、可批注、可复习的课程资料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60520"/>
            <a:ext cx="1691640" cy="292608"/>
          </a:xfrm>
          <a:prstGeom prst="roundRect">
            <a:avLst>
              <a:gd name="adj" fmla="val 6000"/>
            </a:avLst>
          </a:prstGeom>
          <a:solidFill>
            <a:srgbClr val="EC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74235"/>
            <a:ext cx="1691640" cy="265176"/>
          </a:xfrm>
          <a:prstGeom prst="rect">
            <a:avLst/>
          </a:prstGeom>
          <a:noFill/>
        </p:spPr>
        <p:txBody>
          <a:bodyPr wrap="square" anchor="ctr" lIns="36576" tIns="27432" rIns="36576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F5D4E"/>
                </a:solidFill>
                <a:latin typeface="Microsoft YaHei"/>
              </a:rPr>
              <a:t>PostgreSQL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8608" y="4160520"/>
            <a:ext cx="1600200" cy="292608"/>
          </a:xfrm>
          <a:prstGeom prst="roundRect">
            <a:avLst>
              <a:gd name="adj" fmla="val 6000"/>
            </a:avLst>
          </a:prstGeom>
          <a:solidFill>
            <a:srgbClr val="EC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4174235"/>
            <a:ext cx="1600200" cy="265176"/>
          </a:xfrm>
          <a:prstGeom prst="rect">
            <a:avLst/>
          </a:prstGeom>
          <a:noFill/>
        </p:spPr>
        <p:txBody>
          <a:bodyPr wrap="square" anchor="ctr" lIns="36576" tIns="27432" rIns="36576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F5D4E"/>
                </a:solidFill>
                <a:latin typeface="Microsoft YaHei"/>
              </a:rPr>
              <a:t>FastAPI SSR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4160520"/>
            <a:ext cx="1325880" cy="292608"/>
          </a:xfrm>
          <a:prstGeom prst="roundRect">
            <a:avLst>
              <a:gd name="adj" fmla="val 6000"/>
            </a:avLst>
          </a:prstGeom>
          <a:solidFill>
            <a:srgbClr val="EC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8536" y="4174235"/>
            <a:ext cx="1325880" cy="265176"/>
          </a:xfrm>
          <a:prstGeom prst="rect">
            <a:avLst/>
          </a:prstGeom>
          <a:noFill/>
        </p:spPr>
        <p:txBody>
          <a:bodyPr wrap="square" anchor="ctr" lIns="36576" tIns="27432" rIns="36576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F5D4E"/>
                </a:solidFill>
                <a:latin typeface="Microsoft YaHei"/>
              </a:rPr>
              <a:t>Text2SQL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6949440" cy="29260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3CB"/>
                </a:solidFill>
                <a:latin typeface="Microsoft YaHei"/>
              </a:rPr>
              <a:t>选题 2 · 模拟数据演示 · 汇报人：____________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01 / 问题与目标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问答很零散，复习时却找不到上下文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475488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D4E"/>
                </a:solidFill>
                <a:latin typeface="Microsoft YaHei"/>
              </a:rPr>
              <a:t>三个真实痛点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73152" cy="1417320"/>
          </a:xfrm>
          <a:prstGeom prst="rect">
            <a:avLst/>
          </a:prstGeom>
          <a:solidFill>
            <a:srgbClr val="2F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39112"/>
            <a:ext cx="640080" cy="38404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2F5D4E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057400"/>
            <a:ext cx="2331720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24"/>
                </a:solidFill>
                <a:latin typeface="Microsoft YaHei"/>
              </a:rPr>
              <a:t>记录分散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514600"/>
            <a:ext cx="2962656" cy="7772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Qoder、ChatGPT、DeepSeek 各有一套导出格式，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历史问答难以统一查找。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56432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456432"/>
            <a:ext cx="73152" cy="1417320"/>
          </a:xfrm>
          <a:prstGeom prst="rect">
            <a:avLst/>
          </a:prstGeom>
          <a:solidFill>
            <a:srgbClr val="B46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621024"/>
            <a:ext cx="640080" cy="38404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B4693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639312"/>
            <a:ext cx="2331720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24"/>
                </a:solidFill>
                <a:latin typeface="Microsoft YaHei"/>
              </a:rPr>
              <a:t>缺少上下文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096512"/>
            <a:ext cx="2962656" cy="7772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只搜到一句话，却不知道它属于哪门课、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哪次追问、前后文是什么。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038344"/>
            <a:ext cx="338328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5038344"/>
            <a:ext cx="73152" cy="1170432"/>
          </a:xfrm>
          <a:prstGeom prst="rect">
            <a:avLst/>
          </a:prstGeom>
          <a:solidFill>
            <a:srgbClr val="2F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202936"/>
            <a:ext cx="640080" cy="38404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2F5D4E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5221223"/>
            <a:ext cx="2331720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24"/>
                </a:solidFill>
                <a:latin typeface="Microsoft YaHei"/>
              </a:rPr>
              <a:t>复习低效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678423"/>
            <a:ext cx="2962656" cy="53035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看过的结论没有批注、没有到期提醒，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无法形成间隔复习。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481328"/>
            <a:ext cx="621792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D4E"/>
                </a:solidFill>
                <a:latin typeface="Microsoft YaHei"/>
              </a:rPr>
              <a:t>系统目标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1874519"/>
            <a:ext cx="6629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91456" y="1984248"/>
            <a:ext cx="914400" cy="29260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导入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1984248"/>
            <a:ext cx="53949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统一 JSON / Markdown 格式，解析、查重、事务入库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2852928"/>
            <a:ext cx="6629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2962656"/>
            <a:ext cx="914400" cy="29260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组织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0992" y="2962656"/>
            <a:ext cx="53949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课程 + 来源 + 标签三维归类，支持课程共享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3831335"/>
            <a:ext cx="6629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6" y="3941063"/>
            <a:ext cx="914400" cy="29260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复习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0992" y="3941063"/>
            <a:ext cx="53949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消息级批注、复习队列、1→2→4→8 天间隔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20" y="4809744"/>
            <a:ext cx="6629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1456" y="4919472"/>
            <a:ext cx="914400" cy="29260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洞察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50992" y="4919472"/>
            <a:ext cx="53949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课程 / 月度 / 标签 / 批注统计与导出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17720" y="5925312"/>
            <a:ext cx="6629400" cy="384048"/>
          </a:xfrm>
          <a:prstGeom prst="roundRect">
            <a:avLst>
              <a:gd name="adj" fmla="val 6000"/>
            </a:avLst>
          </a:prstGeom>
          <a:solidFill>
            <a:srgbClr val="EC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5980176"/>
            <a:ext cx="635508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F5D4E"/>
                </a:solidFill>
                <a:latin typeface="Microsoft YaHei"/>
              </a:rPr>
              <a:t>设计原则：以数据库为中心，手写参数化 SQL，不用 ORM 隐藏关系模型。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02 / 角色与范围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两类系统角色，三种课程角色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33832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73152" cy="1572768"/>
          </a:xfrm>
          <a:prstGeom prst="rect">
            <a:avLst/>
          </a:prstGeom>
          <a:solidFill>
            <a:srgbClr val="2F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45920"/>
            <a:ext cx="2962656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学生 alice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29968"/>
            <a:ext cx="2962656" cy="104241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5 门课程 owner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3 个平台来源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30 个会话 / 420 条消息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481328"/>
            <a:ext cx="33832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481328"/>
            <a:ext cx="73152" cy="1572768"/>
          </a:xfrm>
          <a:prstGeom prst="rect">
            <a:avLst/>
          </a:prstGeom>
          <a:solidFill>
            <a:srgbClr val="B46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645920"/>
            <a:ext cx="2962656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693F"/>
                </a:solidFill>
                <a:latin typeface="Microsoft YaHei"/>
              </a:rPr>
              <a:t>同学 bob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029968"/>
            <a:ext cx="2962656" cy="104241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操作系统 editor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数据库 viewer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可共享、可复习，不可越权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81328"/>
            <a:ext cx="33832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81328"/>
            <a:ext cx="73152" cy="1572768"/>
          </a:xfrm>
          <a:prstGeom prst="rect">
            <a:avLst/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645920"/>
            <a:ext cx="2962656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4339"/>
                </a:solidFill>
                <a:latin typeface="Microsoft YaHei"/>
              </a:rPr>
              <a:t>管理员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029968"/>
            <a:ext cx="2962656" cy="104241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用户启停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系统聚合统计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不读取他人正文与批注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46704"/>
            <a:ext cx="365760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D4E"/>
                </a:solidFill>
                <a:latin typeface="Microsoft YaHei"/>
              </a:rPr>
              <a:t>十项功能需求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58368" y="3703320"/>
          <a:ext cx="6812280" cy="2331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1417320"/>
                <a:gridCol w="4736592"/>
              </a:tblGrid>
              <a:tr h="21197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ID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能力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关键数据库点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</a:tr>
              <a:tr h="21197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R01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记录导入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JSONB 预览、唯一键、单事务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1197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R02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课程与标签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M:N、部分唯一索引、触发器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21197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R03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检索与整理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trgm + ILIKE、RRF、建议回填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1197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R04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批注复习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1:N、复合唯一键、事件流水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21197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R05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统计导出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JOIN、FILTER、窗口函数、CTE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1197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R06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用户权限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应用层 + SQL 作用域 + DB 角色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21197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R07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Text2SQL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只读视图、SQL 守卫、审计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1197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R08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管理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聚合查询、账号启停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21197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R09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快速采集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令牌哈希、限流、Bearer 复用事务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1197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R10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离线学习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IndexedDB、事件 ID 幂等同步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7772400" y="3410712"/>
            <a:ext cx="3749039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84" y="3456432"/>
            <a:ext cx="252367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03 / 数据来源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没有真实导出，就用可复现的模拟数据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5806440" cy="2057400"/>
          </a:xfrm>
          <a:prstGeom prst="roundRect">
            <a:avLst>
              <a:gd name="adj" fmla="val 6000"/>
            </a:avLst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53949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C8A8"/>
                </a:solidFill>
                <a:latin typeface="Microsoft YaHei"/>
              </a:rPr>
              <a:t>统一导入格式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5394960" cy="1399032"/>
          </a:xfrm>
          <a:prstGeom prst="roundRect">
            <a:avLst>
              <a:gd name="adj" fmla="val 6000"/>
            </a:avLst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2075688"/>
            <a:ext cx="5102352" cy="117957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{"platform": "qoder",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 "conversations": [{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   "external_id": "qoder-db-001",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   "title": "SQL 执行顺序", "course_code": "DB",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   "tags": ["SQL"], "messages": [...] }]}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481328"/>
            <a:ext cx="1536192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1554480"/>
            <a:ext cx="1316736" cy="41148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F5D4E"/>
                </a:solidFill>
                <a:latin typeface="Microsoft YaHe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011680"/>
            <a:ext cx="1316736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门课程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21624" y="1481328"/>
            <a:ext cx="1536192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1" y="1554480"/>
            <a:ext cx="1316736" cy="41148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F5D4E"/>
                </a:solidFill>
                <a:latin typeface="Microsoft YaHei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1" y="2011680"/>
            <a:ext cx="1316736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个会话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22408" y="1481328"/>
            <a:ext cx="1536192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32136" y="1554480"/>
            <a:ext cx="1316736" cy="41148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F5D4E"/>
                </a:solidFill>
                <a:latin typeface="Microsoft YaHei"/>
              </a:rPr>
              <a:t>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32136" y="2011680"/>
            <a:ext cx="1316736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条消息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2505456"/>
            <a:ext cx="1536192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0568" y="2578608"/>
            <a:ext cx="1316736" cy="41148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F5D4E"/>
                </a:solidFill>
                <a:latin typeface="Microsoft YaHei"/>
              </a:rPr>
              <a:t>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035808"/>
            <a:ext cx="1316736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条批注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21624" y="2505456"/>
            <a:ext cx="1536192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1" y="2578608"/>
            <a:ext cx="1316736" cy="41148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F5D4E"/>
                </a:solidFill>
                <a:latin typeface="Microsoft YaHei"/>
              </a:rPr>
              <a:t>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1" y="3035808"/>
            <a:ext cx="1316736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个标签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22408" y="2505456"/>
            <a:ext cx="1536192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32136" y="2578608"/>
            <a:ext cx="1316736" cy="41148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F5D4E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32136" y="3035808"/>
            <a:ext cx="1316736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个导入批次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794760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794760"/>
            <a:ext cx="73152" cy="1298448"/>
          </a:xfrm>
          <a:prstGeom prst="rect">
            <a:avLst/>
          </a:prstGeom>
          <a:solidFill>
            <a:srgbClr val="2F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959352"/>
            <a:ext cx="3035808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JSON 为主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4343400"/>
            <a:ext cx="3035808" cy="7680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结构化字段完整；已适配 ChatGPT conversations.json 与 Qoder 会话导出。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1" y="3794760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1" y="3794760"/>
            <a:ext cx="73152" cy="1298448"/>
          </a:xfrm>
          <a:prstGeom prst="rect">
            <a:avLst/>
          </a:prstGeom>
          <a:solidFill>
            <a:srgbClr val="B46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3959352"/>
            <a:ext cx="3035808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693F"/>
                </a:solidFill>
                <a:latin typeface="Microsoft YaHei"/>
              </a:rPr>
              <a:t>Markdown 为辅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4343400"/>
            <a:ext cx="3035808" cy="7680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# 标题 + 课程/标签元信息 + 用户/助手分段；兼容 DeepSeek 原生标题。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3296" y="3794760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83296" y="3794760"/>
            <a:ext cx="73152" cy="1298448"/>
          </a:xfrm>
          <a:prstGeom prst="rect">
            <a:avLst/>
          </a:prstGeom>
          <a:solidFill>
            <a:srgbClr val="2F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3959352"/>
            <a:ext cx="3035808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可复现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4343400"/>
            <a:ext cx="3035808" cy="7680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make_samples.py 生成样例，seed_demo.py 走真实导入服务。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321808"/>
            <a:ext cx="10972800" cy="658368"/>
          </a:xfrm>
          <a:prstGeom prst="roundRect">
            <a:avLst>
              <a:gd name="adj" fmla="val 6000"/>
            </a:avLst>
          </a:prstGeom>
          <a:solidFill>
            <a:srgbClr val="F2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561320" cy="4572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693F"/>
                </a:solidFill>
                <a:latin typeface="Microsoft YaHei"/>
              </a:rPr>
              <a:t>数据声明：所有聊天内容均为围绕课程知识点生成的模拟数据，不含真实个人信息；报告、页面与导出文件均明确标注。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04 / 概念设计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8 个核心实体，12 组联系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00">
                <a:solidFill>
                  <a:srgbClr val="2F5D4E"/>
                </a:solidFill>
                <a:latin typeface="Microsoft YaHei"/>
              </a:rPr>
              <a:t>• 用户、课程、来源、会话、消息、标签、批注、复习项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00">
                <a:solidFill>
                  <a:srgbClr val="2F5D4E"/>
                </a:solidFill>
                <a:latin typeface="Microsoft YaHei"/>
              </a:rPr>
              <a:t>• 课程成员、导入批次、Text2SQL 日志、复习事件、采集令牌与审计日志是操作型实体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00">
                <a:solidFill>
                  <a:srgbClr val="2F5D4E"/>
                </a:solidFill>
                <a:latin typeface="Microsoft YaHei"/>
              </a:rPr>
              <a:t>• 批注与复习项按弱实体处理，依赖消息 / 批注存在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00">
                <a:solidFill>
                  <a:srgbClr val="2F5D4E"/>
                </a:solidFill>
                <a:latin typeface="Microsoft YaHei"/>
              </a:rPr>
              <a:t>• 用户 M:N 课程（带角色）；会话 M:N 标签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00">
                <a:solidFill>
                  <a:srgbClr val="2F5D4E"/>
                </a:solidFill>
                <a:latin typeface="Microsoft YaHei"/>
              </a:rPr>
              <a:t>• 用户 1:N 来源 → 会话 → 消息 → 批注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00">
                <a:solidFill>
                  <a:srgbClr val="2F5D4E"/>
                </a:solidFill>
                <a:latin typeface="Microsoft YaHei"/>
              </a:rPr>
              <a:t>• 同一批注可被不同用户加入各自复习队列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440680"/>
            <a:ext cx="4892040" cy="603504"/>
          </a:xfrm>
          <a:prstGeom prst="roundRect">
            <a:avLst>
              <a:gd name="adj" fmla="val 6000"/>
            </a:avLst>
          </a:prstGeom>
          <a:solidFill>
            <a:srgbClr val="EC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522976"/>
            <a:ext cx="4572000" cy="43891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F5D4E"/>
                </a:solidFill>
                <a:latin typeface="Microsoft YaHei"/>
              </a:rPr>
              <a:t>删除策略：消息随会话级联；会话随课程置空；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2F5D4E"/>
                </a:solidFill>
                <a:latin typeface="Microsoft YaHei"/>
              </a:rPr>
              <a:t>有会话的来源禁止删除。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325880"/>
            <a:ext cx="5897879" cy="49834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6-er-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132" y="1371600"/>
            <a:ext cx="579217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05 / 逻辑设计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16 张表：核心业务与操作型数据分离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81328"/>
          <a:ext cx="108813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840480"/>
                <a:gridCol w="5486400"/>
              </a:tblGrid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领域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表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关键约束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账户与权限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users · course_members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系统角色；每课一个 owner；复合主键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sources · conversations · messages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(source, external_id)、(conversation, seq_no) 唯一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组织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courses · tags · conversation_tags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(created_by, code, semester) 唯一；标签同 owner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学习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annotations · review_items · review_logs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UNIQUE(user_id, annotation_id)；事件流水幂等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知识结构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tag_edges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先修边唯一；触发器递归防环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采集与运维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import_batches · api_tokens · text2sql_log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预览 token 唯一；令牌只存哈希；执行审计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审计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audit_log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A24"/>
                          </a:solidFill>
                          <a:latin typeface="Microsoft YaHei"/>
                        </a:rPr>
                        <a:t>只记对象/动作/主键/变更列名；应用角色只读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4773168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00">
                <a:solidFill>
                  <a:srgbClr val="2F5D4E"/>
                </a:solidFill>
                <a:latin typeface="Microsoft YaHei"/>
              </a:rPr>
              <a:t>• 单列代理键 + 关联表，避免复合业务键扩散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00">
                <a:solidFill>
                  <a:srgbClr val="2F5D4E"/>
                </a:solidFill>
                <a:latin typeface="Microsoft YaHei"/>
              </a:rPr>
              <a:t>• 会话不冗余 owner，消息不冗余课程 / 来源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00">
                <a:solidFill>
                  <a:srgbClr val="2F5D4E"/>
                </a:solidFill>
                <a:latin typeface="Microsoft YaHei"/>
              </a:rPr>
              <a:t>• 不存 message_count 等可派生计数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773168"/>
            <a:ext cx="5257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00">
                <a:solidFill>
                  <a:srgbClr val="2F5D4E"/>
                </a:solidFill>
                <a:latin typeface="Microsoft YaHei"/>
              </a:rPr>
              <a:t>• 保留 payload JSONB 作为预览期受控冗余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00">
                <a:solidFill>
                  <a:srgbClr val="2F5D4E"/>
                </a:solidFill>
                <a:latin typeface="Microsoft YaHei"/>
              </a:rPr>
              <a:t>• row_count 是 Text2SQL 审计快照，不是统计缓存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00">
                <a:solidFill>
                  <a:srgbClr val="2F5D4E"/>
                </a:solidFill>
                <a:latin typeface="Microsoft YaHei"/>
              </a:rPr>
              <a:t>• count(*) 实时计算，保证统计与明细一致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06 / 范式与完整性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先满足范式，再只保留有理由的冗余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5440680" cy="886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91056"/>
            <a:ext cx="1417320" cy="29260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5D4E"/>
                </a:solidFill>
                <a:latin typeface="Microsoft YaHei"/>
              </a:rPr>
              <a:t>1NF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1581912"/>
            <a:ext cx="3703320" cy="6858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C756F"/>
                </a:solidFill>
                <a:latin typeface="Microsoft YaHei"/>
              </a:rPr>
              <a:t>所有列原子；标签、成员、会话标签拆关联表，不存逗号分隔串。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14600"/>
            <a:ext cx="5440680" cy="886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24328"/>
            <a:ext cx="1417320" cy="29260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5D4E"/>
                </a:solidFill>
                <a:latin typeface="Microsoft YaHei"/>
              </a:rPr>
              <a:t>2NF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615184"/>
            <a:ext cx="3703320" cy="6858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C756F"/>
                </a:solidFill>
                <a:latin typeface="Microsoft YaHei"/>
              </a:rPr>
              <a:t>核心表单列代理键；关联表非键属性依赖整个复合键。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47872"/>
            <a:ext cx="5440680" cy="886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657600"/>
            <a:ext cx="1417320" cy="29260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5D4E"/>
                </a:solidFill>
                <a:latin typeface="Microsoft YaHei"/>
              </a:rPr>
              <a:t>3NF / BCNF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3648456"/>
            <a:ext cx="3703320" cy="6858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C756F"/>
                </a:solidFill>
                <a:latin typeface="Microsoft YaHei"/>
              </a:rPr>
              <a:t>会话不冗余 owner；消息不冗余课程与来源；避免传递依赖。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81144"/>
            <a:ext cx="5440680" cy="886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690872"/>
            <a:ext cx="1417320" cy="29260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5D4E"/>
                </a:solidFill>
                <a:latin typeface="Microsoft YaHei"/>
              </a:rPr>
              <a:t>受控冗余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4681728"/>
            <a:ext cx="3703320" cy="6858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C756F"/>
                </a:solidFill>
                <a:latin typeface="Microsoft YaHei"/>
              </a:rPr>
              <a:t>import_batches.payload 仅预览期；row_count 为审计快照。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481328"/>
            <a:ext cx="502920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D4E"/>
                </a:solidFill>
                <a:latin typeface="Microsoft YaHei"/>
              </a:rPr>
              <a:t>完整性约束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0" y="1847088"/>
          <a:ext cx="5120640" cy="2377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794760"/>
              </a:tblGrid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例子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24"/>
                          </a:solidFill>
                          <a:latin typeface="Microsoft YaHei"/>
                        </a:rPr>
                        <a:t>主键 / 外键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24"/>
                          </a:solidFill>
                          <a:latin typeface="Microsoft YaHei"/>
                        </a:rPr>
                        <a:t>16 张表全部有 PK；关键关系均有 FK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24"/>
                          </a:solidFill>
                          <a:latin typeface="Microsoft YaHei"/>
                        </a:rPr>
                        <a:t>UNIQUE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24"/>
                          </a:solidFill>
                          <a:latin typeface="Microsoft YaHei"/>
                        </a:rPr>
                        <a:t>会话外部 ID、消息序号、标签名、先修边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24"/>
                          </a:solidFill>
                          <a:latin typeface="Microsoft YaHei"/>
                        </a:rPr>
                        <a:t>CHECK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24"/>
                          </a:solidFill>
                          <a:latin typeface="Microsoft YaHei"/>
                        </a:rPr>
                        <a:t>角色枚举、消息非空、结束时间 ≥ 开始、先修边两端不同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24"/>
                          </a:solidFill>
                          <a:latin typeface="Microsoft YaHei"/>
                        </a:rPr>
                        <a:t>部分唯一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24"/>
                          </a:solidFill>
                          <a:latin typeface="Microsoft YaHei"/>
                        </a:rPr>
                        <a:t>每门课最多一个 owner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24"/>
                          </a:solidFill>
                          <a:latin typeface="Microsoft YaHei"/>
                        </a:rPr>
                        <a:t>触发器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24"/>
                          </a:solidFill>
                          <a:latin typeface="Microsoft YaHei"/>
                        </a:rPr>
                        <a:t>同 owner；先修边防环；结构变更审计元数据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24"/>
                          </a:solidFill>
                          <a:latin typeface="Microsoft YaHei"/>
                        </a:rPr>
                        <a:t>删除行为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24"/>
                          </a:solidFill>
                          <a:latin typeface="Microsoft YaHei"/>
                        </a:rPr>
                        <a:t>CASCADE / SET NULL / RESTRICT 按语义选择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6400800" y="4480560"/>
            <a:ext cx="5120640" cy="1298448"/>
          </a:xfrm>
          <a:prstGeom prst="roundRect">
            <a:avLst>
              <a:gd name="adj" fmla="val 6000"/>
            </a:avLst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4590288"/>
            <a:ext cx="4828031" cy="107899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-- 不用生成列：避免 content → hash 传递依赖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CREATE INDEX idx_messages_content_md5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  ON app.messages (md5(content));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-- 中文子串检索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CREATE INDEX ... USING gin (content gin_trgm_ops);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07 / 导入流水线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解析、预览、确认三段式，确认阶段全有或全无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19659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81912"/>
            <a:ext cx="36576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4693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600200"/>
            <a:ext cx="1280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A24"/>
                </a:solidFill>
                <a:latin typeface="Microsoft YaHei"/>
              </a:rPr>
              <a:t>上传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11680"/>
            <a:ext cx="1691640" cy="64008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JSON / MD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≤ 5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1874519"/>
            <a:ext cx="329184" cy="36576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16936" y="1481328"/>
            <a:ext cx="19659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581912"/>
            <a:ext cx="36576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4693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600200"/>
            <a:ext cx="1280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A24"/>
                </a:solidFill>
                <a:latin typeface="Microsoft YaHei"/>
              </a:rPr>
              <a:t>解析校验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011680"/>
            <a:ext cx="1691640" cy="64008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字段、角色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时间、上限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1874519"/>
            <a:ext cx="329184" cy="36576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1481328"/>
            <a:ext cx="19659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1581912"/>
            <a:ext cx="36576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4693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5856" y="1600200"/>
            <a:ext cx="1280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A24"/>
                </a:solidFill>
                <a:latin typeface="Microsoft YaHei"/>
              </a:rPr>
              <a:t>持久化预览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2011680"/>
            <a:ext cx="1691640" cy="64008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JSONB + token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30 分钟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1874519"/>
            <a:ext cx="329184" cy="36576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34072" y="1481328"/>
            <a:ext cx="19659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0376" y="1581912"/>
            <a:ext cx="36576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4693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4424" y="1600200"/>
            <a:ext cx="1280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A24"/>
                </a:solidFill>
                <a:latin typeface="Microsoft YaHei"/>
              </a:rPr>
              <a:t>勾选映射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2011680"/>
            <a:ext cx="1691640" cy="64008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课程 / 标签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查重状态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1874519"/>
            <a:ext cx="329184" cy="36576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1481328"/>
            <a:ext cx="196596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38944" y="1581912"/>
            <a:ext cx="36576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4693F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1600200"/>
            <a:ext cx="1280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A24"/>
                </a:solidFill>
                <a:latin typeface="Microsoft YaHei"/>
              </a:rPr>
              <a:t>事务入库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8944" y="2011680"/>
            <a:ext cx="1691640" cy="64008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advisory lock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ON CONFLICT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7" y="2971800"/>
            <a:ext cx="69037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8-import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36" y="3017520"/>
            <a:ext cx="4103143" cy="30175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72400" y="3063240"/>
            <a:ext cx="3749039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D4E"/>
                </a:solidFill>
                <a:latin typeface="Microsoft YaHei"/>
              </a:rPr>
              <a:t>演示文件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7772400" y="3419856"/>
          <a:ext cx="374904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331720"/>
              </a:tblGrid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文件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预期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qoder_db.json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6 会话 / 84 消息，首次入库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duplicate_db.json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全部重复，新增 0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broken.json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字段级错误，直接拒绝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7772400" y="4919472"/>
            <a:ext cx="37947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失败整体回滚，批次单独标记 failed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重复导入只补新增消息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平台导出与 Bearer 接口共用同一事务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08 / 检索与阅读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中文子串检索 + 会话内上下文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48463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400">
                <a:solidFill>
                  <a:srgbClr val="2F5D4E"/>
                </a:solidFill>
                <a:latin typeface="Microsoft YaHei"/>
              </a:rPr>
              <a:t>• 标题与消息正文联合匹配，课程 / 标签 / 日期筛选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400">
                <a:solidFill>
                  <a:srgbClr val="2F5D4E"/>
                </a:solidFill>
                <a:latin typeface="Microsoft YaHei"/>
              </a:rPr>
              <a:t>• pg_trgm GIN + ILIKE ESCAPE，参数化查询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400">
                <a:solidFill>
                  <a:srgbClr val="2F5D4E"/>
                </a:solidFill>
                <a:latin typeface="Microsoft YaHei"/>
              </a:rPr>
              <a:t>• 可选 pgvector + HNSW，RRF 融合词法与语义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400">
                <a:solidFill>
                  <a:srgbClr val="2F5D4E"/>
                </a:solidFill>
                <a:latin typeface="Microsoft YaHei"/>
              </a:rPr>
              <a:t>• count(*) OVER() 一次查询拿到分页总数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400">
                <a:solidFill>
                  <a:srgbClr val="2F5D4E"/>
                </a:solidFill>
                <a:latin typeface="Microsoft YaHei"/>
              </a:rPr>
              <a:t>• SQL 侧截取命中片段，避免传输整段长回答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400">
                <a:solidFill>
                  <a:srgbClr val="2F5D4E"/>
                </a:solidFill>
                <a:latin typeface="Microsoft YaHei"/>
              </a:rPr>
              <a:t>• 打开会话按 seq_no 排序，保留完整上下文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400">
                <a:solidFill>
                  <a:srgbClr val="2F5D4E"/>
                </a:solidFill>
                <a:latin typeface="Microsoft YaHei"/>
              </a:rPr>
              <a:t>• 关键词在标题和正文中高亮显示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400">
                <a:solidFill>
                  <a:srgbClr val="2F5D4E"/>
                </a:solidFill>
                <a:latin typeface="Microsoft YaHei"/>
              </a:rPr>
              <a:t>• 可选 AI 建议：摘要与标签只回填，确认后入库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074920"/>
            <a:ext cx="4846320" cy="1097280"/>
          </a:xfrm>
          <a:prstGeom prst="roundRect">
            <a:avLst>
              <a:gd name="adj" fmla="val 6000"/>
            </a:avLst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184648"/>
            <a:ext cx="4553712" cy="877824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SELECT ..., count(*) OVER() AS total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FROM app.messages m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WHERE m.content ILIKE %(kw)s ESCAPE '\'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ECF2EA"/>
                </a:solidFill>
                <a:latin typeface="Consolas"/>
              </a:rPr>
              <a:t>ORDER BY m.conversation_id, m.seq_no;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371600"/>
            <a:ext cx="5852159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5-conversation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642" y="1417320"/>
            <a:ext cx="201087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09 / 批注与复习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把“看懂了”变成“下次还会”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21488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73152" cy="1143000"/>
          </a:xfrm>
          <a:prstGeom prst="rect">
            <a:avLst/>
          </a:prstGeom>
          <a:solidFill>
            <a:srgbClr val="2F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45920"/>
            <a:ext cx="1728216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四类批注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29968"/>
            <a:ext cx="1728216" cy="61264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note / question / correction /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0087" y="1481328"/>
            <a:ext cx="21488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0087" y="1481328"/>
            <a:ext cx="73152" cy="1143000"/>
          </a:xfrm>
          <a:prstGeom prst="rect">
            <a:avLst/>
          </a:prstGeom>
          <a:solidFill>
            <a:srgbClr val="B46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1645920"/>
            <a:ext cx="1728216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693F"/>
                </a:solidFill>
                <a:latin typeface="Microsoft YaHei"/>
              </a:rPr>
              <a:t>解决状态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2029968"/>
            <a:ext cx="1728216" cy="61264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open → resolved；支持编辑与删除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21807" y="1481328"/>
            <a:ext cx="21488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21807" y="1481328"/>
            <a:ext cx="73152" cy="1143000"/>
          </a:xfrm>
          <a:prstGeom prst="rect">
            <a:avLst/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1645920"/>
            <a:ext cx="1728216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4339"/>
                </a:solidFill>
                <a:latin typeface="Microsoft YaHei"/>
              </a:rPr>
              <a:t>复习队列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1264" y="2029968"/>
            <a:ext cx="1728216" cy="61264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pending / reviewing / mastered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88036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>
                <a:solidFill>
                  <a:srgbClr val="2F5D4E"/>
                </a:solidFill>
                <a:latin typeface="Microsoft YaHei"/>
              </a:rPr>
              <a:t>• 批注挂在消息上；一条消息可有多条批注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>
                <a:solidFill>
                  <a:srgbClr val="2F5D4E"/>
                </a:solidFill>
                <a:latin typeface="Microsoft YaHei"/>
              </a:rPr>
              <a:t>• 复习项唯一键是 (user_id, annotation_id)，同一批注可被多人复习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>
                <a:solidFill>
                  <a:srgbClr val="2F5D4E"/>
                </a:solidFill>
                <a:latin typeface="Microsoft YaHei"/>
              </a:rPr>
              <a:t>• 到期查询使用部分索引 WHERE status &lt;&gt; 'mastered'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>
                <a:solidFill>
                  <a:srgbClr val="2F5D4E"/>
                </a:solidFill>
                <a:latin typeface="Microsoft YaHei"/>
              </a:rPr>
              <a:t>• 复习一次：间隔 1 → 2 → 4 → 8 天，due_date 顺延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>
                <a:solidFill>
                  <a:srgbClr val="2F5D4E"/>
                </a:solidFill>
                <a:latin typeface="Microsoft YaHei"/>
              </a:rPr>
              <a:t>• 标记掌握后退出热点队列，但保留历史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257800"/>
            <a:ext cx="5486400" cy="896112"/>
          </a:xfrm>
          <a:prstGeom prst="roundRect">
            <a:avLst>
              <a:gd name="adj" fmla="val 6000"/>
            </a:avLst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367528"/>
            <a:ext cx="5193792" cy="67665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>
                <a:solidFill>
                  <a:srgbClr val="ECF2EA"/>
                </a:solidFill>
                <a:latin typeface="Consolas"/>
              </a:rPr>
              <a:t>UPDATE app.review_items</a:t>
            </a:r>
          </a:p>
          <a:p>
            <a:pPr algn="l">
              <a:lnSpc>
                <a:spcPct val="110000"/>
              </a:lnSpc>
            </a:pPr>
            <a:r>
              <a:rPr sz="880" b="0">
                <a:solidFill>
                  <a:srgbClr val="ECF2EA"/>
                </a:solidFill>
                <a:latin typeface="Consolas"/>
              </a:rPr>
              <a:t>SET interval_days = interval_days * 2,</a:t>
            </a:r>
          </a:p>
          <a:p>
            <a:pPr algn="l">
              <a:lnSpc>
                <a:spcPct val="110000"/>
              </a:lnSpc>
            </a:pPr>
            <a:r>
              <a:rPr sz="880" b="0">
                <a:solidFill>
                  <a:srgbClr val="ECF2EA"/>
                </a:solidFill>
                <a:latin typeface="Consolas"/>
              </a:rPr>
              <a:t>    due_date = current_date + interval_days * 2</a:t>
            </a:r>
          </a:p>
          <a:p>
            <a:pPr algn="l">
              <a:lnSpc>
                <a:spcPct val="110000"/>
              </a:lnSpc>
            </a:pPr>
            <a:r>
              <a:rPr sz="880" b="0">
                <a:solidFill>
                  <a:srgbClr val="ECF2EA"/>
                </a:solidFill>
                <a:latin typeface="Consolas"/>
              </a:rPr>
              <a:t>WHERE id = %s AND user_id = %s;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371600"/>
            <a:ext cx="5212079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0-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417" y="1417320"/>
            <a:ext cx="1021404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10 / 知识先修图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把标签连成 DAG：先学什么，后学什么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171907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73152" cy="1097280"/>
          </a:xfrm>
          <a:prstGeom prst="rect">
            <a:avLst/>
          </a:prstGeom>
          <a:solidFill>
            <a:srgbClr val="2F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45920"/>
            <a:ext cx="1298448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图模型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29968"/>
            <a:ext cx="1298448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tag_edges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(from → 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7" y="1481328"/>
            <a:ext cx="171907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2887" y="1481328"/>
            <a:ext cx="73152" cy="1097280"/>
          </a:xfrm>
          <a:prstGeom prst="rect">
            <a:avLst/>
          </a:prstGeom>
          <a:solidFill>
            <a:srgbClr val="B46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645920"/>
            <a:ext cx="1298448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693F"/>
                </a:solidFill>
                <a:latin typeface="Microsoft YaHei"/>
              </a:rPr>
              <a:t>防环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2029968"/>
            <a:ext cx="1298448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触发器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递归 CTE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7" y="1481328"/>
            <a:ext cx="171907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7" y="1481328"/>
            <a:ext cx="73152" cy="1097280"/>
          </a:xfrm>
          <a:prstGeom prst="rect">
            <a:avLst/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645920"/>
            <a:ext cx="1298448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4339"/>
                </a:solidFill>
                <a:latin typeface="Microsoft YaHei"/>
              </a:rPr>
              <a:t>闭包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029968"/>
            <a:ext cx="1298448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视图实时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最短深度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8892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先修边唯一 (from_tag_id, to_tag_id)，两端必须同一属主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写入前从后继出发递归检查，能回到先修就拒绝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闭包不落表，边变化后立即生效，无冗余一致性问题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页面按主导课程拆成 6 张 SVG 子图，最长路径分层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800600"/>
            <a:ext cx="5577840" cy="1508760"/>
          </a:xfrm>
          <a:prstGeom prst="roundRect">
            <a:avLst>
              <a:gd name="adj" fmla="val 6000"/>
            </a:avLst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910328"/>
            <a:ext cx="5285231" cy="1289304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ECF2EA"/>
                </a:solidFill>
                <a:latin typeface="Consolas"/>
              </a:rPr>
              <a:t>WITH RECURSIVE walk AS (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ECF2EA"/>
                </a:solidFill>
                <a:latin typeface="Consolas"/>
              </a:rPr>
              <a:t>  SELECT id AS tag, id AS prereq, 0 AS depth, ARRAY[id] AS path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ECF2EA"/>
                </a:solidFill>
                <a:latin typeface="Consolas"/>
              </a:rPr>
              <a:t>    FROM app.tags WHERE owner_id = :uid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ECF2EA"/>
                </a:solidFill>
                <a:latin typeface="Consolas"/>
              </a:rPr>
              <a:t>  UNION ALL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ECF2EA"/>
                </a:solidFill>
                <a:latin typeface="Consolas"/>
              </a:rPr>
              <a:t>  SELECT w.tag, e.from_tag_id, w.depth + 1, w.path || e.from_tag_id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ECF2EA"/>
                </a:solidFill>
                <a:latin typeface="Consolas"/>
              </a:rPr>
              <a:t>    FROM walk w JOIN app.tag_edges e ON e.to_tag_id = w.prereq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ECF2EA"/>
                </a:solidFill>
                <a:latin typeface="Consolas"/>
              </a:rPr>
              <a:t>   WHERE NOT e.from_tag_id = ANY (w.path)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ECF2EA"/>
                </a:solidFill>
                <a:latin typeface="Consolas"/>
              </a:rPr>
              <a:t>) SELECT DISTINCT ON (tag, prereq) ...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629400" y="1481328"/>
          <a:ext cx="4800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194560"/>
                <a:gridCol w="914400"/>
              </a:tblGrid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标签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先修（间接）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深度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B+树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SQL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Dijkstra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629400" y="3154680"/>
            <a:ext cx="480060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直接先修深度为 1，如 索引 → SQL、最短路径 → 图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DISTINCT ON 只保留每对标签的最短路径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path 数组同时防止环路重复展开与无限递归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t2s.v_my_tag_prerequisites 对 Text2SQL 暴露同一闭包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种子数据：59 标签、32 条先修边、6 张课程卡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11 / 统计与导出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把课程里的聚合查询真正用起来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53492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123444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D4E"/>
                </a:solidFill>
                <a:latin typeface="Microsoft YaHei"/>
              </a:rPr>
              <a:t>课程排名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572768"/>
            <a:ext cx="3794760" cy="53035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C756F"/>
                </a:solidFill>
                <a:latin typeface="Consolas"/>
              </a:rPr>
              <a:t>RANK() OVER (ORDER BY message_count DESC)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14016"/>
            <a:ext cx="53492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05456"/>
            <a:ext cx="123444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D4E"/>
                </a:solidFill>
                <a:latin typeface="Microsoft YaHei"/>
              </a:rPr>
              <a:t>解决率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505456"/>
            <a:ext cx="3794760" cy="53035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C756F"/>
                </a:solidFill>
                <a:latin typeface="Consolas"/>
              </a:rPr>
              <a:t>COUNT(*) FILTER (WHERE status = 'resolved')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46704"/>
            <a:ext cx="53492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38144"/>
            <a:ext cx="123444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D4E"/>
                </a:solidFill>
                <a:latin typeface="Microsoft YaHei"/>
              </a:rPr>
              <a:t>月度补零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438144"/>
            <a:ext cx="3794760" cy="53035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C756F"/>
                </a:solidFill>
                <a:latin typeface="Consolas"/>
              </a:rPr>
              <a:t>generate_series(date_trunc('month', ...), ...)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79392"/>
            <a:ext cx="53492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70831"/>
            <a:ext cx="123444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D4E"/>
                </a:solidFill>
                <a:latin typeface="Microsoft YaHei"/>
              </a:rPr>
              <a:t>重复检测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370831"/>
            <a:ext cx="3794760" cy="53035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C756F"/>
                </a:solidFill>
                <a:latin typeface="Consolas"/>
              </a:rPr>
              <a:t>GROUP BY md5(content) HAVING count(*) &gt;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349240"/>
            <a:ext cx="5349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全部计数实时计算，不落冗余统计表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2F5D4E"/>
                </a:solidFill>
                <a:latin typeface="Microsoft YaHei"/>
              </a:rPr>
              <a:t>• CSV 统计导出 + 单会话 Markdown 导出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11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791" y="1417320"/>
            <a:ext cx="439749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12 / Text2SQL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自然语言查询，但权限在数据库层兜底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1874519" cy="585216"/>
          </a:xfrm>
          <a:prstGeom prst="roundRect">
            <a:avLst>
              <a:gd name="adj" fmla="val 6000"/>
            </a:avLst>
          </a:prstGeom>
          <a:solidFill>
            <a:srgbClr val="2F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1874519" cy="36576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自然语言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572768"/>
            <a:ext cx="27432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693F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1481328"/>
            <a:ext cx="1874519" cy="585216"/>
          </a:xfrm>
          <a:prstGeom prst="roundRect">
            <a:avLst>
              <a:gd name="adj" fmla="val 6000"/>
            </a:avLst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5" y="1554480"/>
            <a:ext cx="1874519" cy="36576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LLM / 本地规则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1572768"/>
            <a:ext cx="27432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693F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481328"/>
            <a:ext cx="1874519" cy="585216"/>
          </a:xfrm>
          <a:prstGeom prst="roundRect">
            <a:avLst>
              <a:gd name="adj" fmla="val 6000"/>
            </a:avLst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1554480"/>
            <a:ext cx="1874519" cy="36576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AST 守卫/预检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7" y="1572768"/>
            <a:ext cx="27432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693F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1481328"/>
            <a:ext cx="1874519" cy="585216"/>
          </a:xfrm>
          <a:prstGeom prst="roundRect">
            <a:avLst>
              <a:gd name="adj" fmla="val 6000"/>
            </a:avLst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54480"/>
            <a:ext cx="1874519" cy="36576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只读视图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572768"/>
            <a:ext cx="274320" cy="32004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693F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481328"/>
            <a:ext cx="1874519" cy="585216"/>
          </a:xfrm>
          <a:prstGeom prst="roundRect">
            <a:avLst>
              <a:gd name="adj" fmla="val 6000"/>
            </a:avLst>
          </a:prstGeom>
          <a:solidFill>
            <a:srgbClr val="2F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554480"/>
            <a:ext cx="1874519" cy="36576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结果 + 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423160"/>
            <a:ext cx="56235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2F5D4E"/>
                </a:solidFill>
                <a:latin typeface="Microsoft YaHei"/>
              </a:rPr>
              <a:t>• sqlglot 只允许一条 SELECT/WITH，拒绝嵌套 DML 与表函数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2F5D4E"/>
                </a:solidFill>
                <a:latin typeface="Microsoft YaHei"/>
              </a:rPr>
              <a:t>• 对象白名单：15 个 t2s 视图，禁止 app / pg_catalog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2F5D4E"/>
                </a:solidFill>
                <a:latin typeface="Microsoft YaHei"/>
              </a:rPr>
              <a:t>• EXPLAIN 预检代价与估算行数，超限直接拒绝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2F5D4E"/>
                </a:solidFill>
                <a:latin typeface="Microsoft YaHei"/>
              </a:rPr>
              <a:t>• 包裹 200 行上限；t2s_reader 只读事务、3 秒超时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2F5D4E"/>
                </a:solidFill>
                <a:latin typeface="Microsoft YaHei"/>
              </a:rPr>
              <a:t>• 视图 security_barrier，按 app.user_id 过滤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2F5D4E"/>
                </a:solidFill>
                <a:latin typeface="Microsoft YaHei"/>
              </a:rPr>
              <a:t>• 成功、拒绝、异常全部写 text2sql_log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2F5D4E"/>
                </a:solidFill>
                <a:latin typeface="Microsoft YaHei"/>
              </a:rPr>
              <a:t>• 无 Key 走 mock，配置 Key 走 OpenAI 兼容接口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440680"/>
            <a:ext cx="5623560" cy="749808"/>
          </a:xfrm>
          <a:prstGeom prst="roundRect">
            <a:avLst>
              <a:gd name="adj" fmla="val 6000"/>
            </a:avLst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550408"/>
            <a:ext cx="5330952" cy="53035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19" b="0">
                <a:solidFill>
                  <a:srgbClr val="ECF2EA"/>
                </a:solidFill>
                <a:latin typeface="Consolas"/>
              </a:rPr>
              <a:t>t2s_reader: CONNECT + USAGE(t2s) + SELECT 视图</a:t>
            </a:r>
          </a:p>
          <a:p>
            <a:pPr algn="l">
              <a:lnSpc>
                <a:spcPct val="110000"/>
              </a:lnSpc>
            </a:pPr>
            <a:r>
              <a:rPr sz="919" b="0">
                <a:solidFill>
                  <a:srgbClr val="ECF2EA"/>
                </a:solidFill>
                <a:latin typeface="Consolas"/>
              </a:rPr>
              <a:t>default_transaction_read_only = 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286000"/>
            <a:ext cx="50749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13-text2sql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145" y="2331720"/>
            <a:ext cx="4751109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13 / 权限模型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应用层、SQL 作用域、数据库约束三层防护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508760"/>
          <a:ext cx="6035040" cy="2834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  <a:gridCol w="1005840"/>
                <a:gridCol w="1188720"/>
              </a:tblGrid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操作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owner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editor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viewer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admin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查看课程 / 会话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仅聚合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编辑课程 / 共享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导入 / 归类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批注 / 复习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删除课程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管理用户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24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457200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00">
                <a:solidFill>
                  <a:srgbClr val="2F5D4E"/>
                </a:solidFill>
                <a:latin typeface="Microsoft YaHei"/>
              </a:rPr>
              <a:t>• 页面 / 服务层先判角色，失败返回 403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00">
                <a:solidFill>
                  <a:srgbClr val="2F5D4E"/>
                </a:solidFill>
                <a:latin typeface="Microsoft YaHei"/>
              </a:rPr>
              <a:t>• SQL 再按 sources.owner_id 与 course_members 限制范围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200">
                <a:solidFill>
                  <a:srgbClr val="2F5D4E"/>
                </a:solidFill>
                <a:latin typeface="Microsoft YaHei"/>
              </a:rPr>
              <a:t>• 管理员看不到正文、批注与复习内容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435608"/>
            <a:ext cx="461772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5-permission-den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159984"/>
            <a:ext cx="4526280" cy="29860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95160" y="5925312"/>
            <a:ext cx="4526280" cy="38404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bob 是数据库课程 viewer；直接访问 /courses/1/edit 被 403 拦截。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14 / 测试与验收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274 项测试与 41 项端到端验收全部通过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1783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72768"/>
            <a:ext cx="15087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F5D4E"/>
                </a:solidFill>
                <a:latin typeface="Microsoft YaHei"/>
              </a:rPr>
              <a:t>274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67128"/>
            <a:ext cx="15087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自动化测试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4328" y="1481328"/>
            <a:ext cx="1783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1572768"/>
            <a:ext cx="15087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F5D4E"/>
                </a:solidFill>
                <a:latin typeface="Microsoft YaHei"/>
              </a:rPr>
              <a:t>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167128"/>
            <a:ext cx="15087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端到端检查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1481328"/>
            <a:ext cx="1783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1572768"/>
            <a:ext cx="15087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F5D4E"/>
                </a:solidFill>
                <a:latin typeface="Microsoft YaHe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167128"/>
            <a:ext cx="15087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C756F"/>
                </a:solidFill>
                <a:latin typeface="Microsoft YaHei"/>
              </a:rPr>
              <a:t>失败项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01752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127248"/>
            <a:ext cx="5193792" cy="1975104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ECF2EA"/>
                </a:solidFill>
                <a:latin typeface="Consolas"/>
              </a:rPr>
              <a:t>.venv/Scripts/python.exe -m pytest -q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ECF2EA"/>
                </a:solidFill>
                <a:latin typeface="Consolas"/>
              </a:rPr>
              <a:t># 155 unit + 119 integration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ECF2EA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ECF2EA"/>
                </a:solidFill>
                <a:latin typeface="Consolas"/>
              </a:rPr>
              <a:t>.venv/Scripts/python.exe scripts/verify.py \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ECF2EA"/>
                </a:solidFill>
                <a:latin typeface="Consolas"/>
              </a:rPr>
              <a:t>  --json data/verification/report.json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85232"/>
            <a:ext cx="5120640" cy="6858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F5D4E"/>
                </a:solidFill>
                <a:latin typeface="Microsoft YaHei"/>
              </a:rPr>
              <a:t>输出：41/41 PASS，0 FAIL，约 2–4 秒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F5D4E"/>
                </a:solidFill>
                <a:latin typeface="Microsoft YaHei"/>
              </a:rPr>
              <a:t>所有写入检查在结束时整体回滚。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481328"/>
            <a:ext cx="5029200" cy="475488"/>
          </a:xfrm>
          <a:prstGeom prst="roundRect">
            <a:avLst>
              <a:gd name="adj" fmla="val 6000"/>
            </a:avLst>
          </a:prstGeom>
          <a:solidFill>
            <a:srgbClr val="ECE7DA"/>
          </a:solidFill>
          <a:ln w="762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1581912"/>
            <a:ext cx="4709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A24"/>
                </a:solidFill>
                <a:latin typeface="Microsoft YaHei"/>
              </a:rPr>
              <a:t>✓  Schema：表、FK、UNIQUE、CHECK、索引、触发器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066544"/>
            <a:ext cx="50292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2167128"/>
            <a:ext cx="4709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A24"/>
                </a:solidFill>
                <a:latin typeface="Microsoft YaHei"/>
              </a:rPr>
              <a:t>✓  权限：alice / bob / viewer / admin 边界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651760"/>
            <a:ext cx="5029200" cy="475488"/>
          </a:xfrm>
          <a:prstGeom prst="roundRect">
            <a:avLst>
              <a:gd name="adj" fmla="val 6000"/>
            </a:avLst>
          </a:prstGeom>
          <a:solidFill>
            <a:srgbClr val="ECE7DA"/>
          </a:solidFill>
          <a:ln w="762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2752344"/>
            <a:ext cx="4709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A24"/>
                </a:solidFill>
                <a:latin typeface="Microsoft YaHei"/>
              </a:rPr>
              <a:t>✓  导入：幂等、重复、损坏文件、平台适配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236976"/>
            <a:ext cx="50292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3337560"/>
            <a:ext cx="4709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A24"/>
                </a:solidFill>
                <a:latin typeface="Microsoft YaHei"/>
              </a:rPr>
              <a:t>✓  检索：关键词、课程、标签、全局搜索、混合检索、AI 建议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822191"/>
            <a:ext cx="5029200" cy="475488"/>
          </a:xfrm>
          <a:prstGeom prst="roundRect">
            <a:avLst>
              <a:gd name="adj" fmla="val 6000"/>
            </a:avLst>
          </a:prstGeom>
          <a:solidFill>
            <a:srgbClr val="ECE7DA"/>
          </a:solidFill>
          <a:ln w="762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3922776"/>
            <a:ext cx="4709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A24"/>
                </a:solidFill>
                <a:latin typeface="Microsoft YaHei"/>
              </a:rPr>
              <a:t>✓  知识结构：先修边防环、递归闭包、Text2SQL 可查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4407408"/>
            <a:ext cx="50292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4507992"/>
            <a:ext cx="4709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A24"/>
                </a:solidFill>
                <a:latin typeface="Microsoft YaHei"/>
              </a:rPr>
              <a:t>✓  统计：种子数据下的计数与排名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992624"/>
            <a:ext cx="5029200" cy="475488"/>
          </a:xfrm>
          <a:prstGeom prst="roundRect">
            <a:avLst>
              <a:gd name="adj" fmla="val 6000"/>
            </a:avLst>
          </a:prstGeom>
          <a:solidFill>
            <a:srgbClr val="ECE7DA"/>
          </a:solidFill>
          <a:ln w="762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2" y="5093208"/>
            <a:ext cx="4709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A24"/>
                </a:solidFill>
                <a:latin typeface="Microsoft YaHei"/>
              </a:rPr>
              <a:t>✓  采集：令牌作用域、限流、Bearer 与 MCP 工具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5577840"/>
            <a:ext cx="50292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5678424"/>
            <a:ext cx="4709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A24"/>
                </a:solidFill>
                <a:latin typeface="Microsoft YaHei"/>
              </a:rPr>
              <a:t>✓  数据库：RLS 对比、审计元数据与角色只读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6163056"/>
            <a:ext cx="5029200" cy="475488"/>
          </a:xfrm>
          <a:prstGeom prst="roundRect">
            <a:avLst>
              <a:gd name="adj" fmla="val 6000"/>
            </a:avLst>
          </a:prstGeom>
          <a:solidFill>
            <a:srgbClr val="ECE7DA"/>
          </a:solidFill>
          <a:ln w="762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6263640"/>
            <a:ext cx="470916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A24"/>
                </a:solidFill>
                <a:latin typeface="Microsoft YaHei"/>
              </a:rPr>
              <a:t>✓  Text2SQL：AST / 预检 / 金标准评测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961120" cy="256032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693F"/>
                </a:solidFill>
                <a:latin typeface="Microsoft YaHei"/>
              </a:rPr>
              <a:t>15 / AI 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2A24"/>
                </a:solidFill>
                <a:latin typeface="Microsoft YaHei"/>
              </a:rPr>
              <a:t>哪些交给 AI，哪些必须自己判断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10881360" cy="16459"/>
          </a:xfrm>
          <a:prstGeom prst="rect">
            <a:avLst/>
          </a:prstGeom>
          <a:solidFill>
            <a:srgbClr val="D8D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82296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C756F"/>
                </a:solidFill>
                <a:latin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55664"/>
            <a:ext cx="6217920" cy="2286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C756F"/>
                </a:solidFill>
                <a:latin typeface="Microsoft YaHei"/>
              </a:rPr>
              <a:t>个人学习空间 · 《数据库系统概论》大作业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81328"/>
          <a:ext cx="7406640" cy="3566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423160"/>
                <a:gridCol w="2011680"/>
              </a:tblGrid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被否方案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最终选择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原因</a:t>
                      </a:r>
                    </a:p>
                  </a:txBody>
                  <a:tcPr marL="73152" marR="54864" marT="27432" marB="27432" anchor="ctr">
                    <a:solidFill>
                      <a:srgbClr val="2F5D4E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把向量检索作为核心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经典关系模型 + 可选向量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作业要求实体、联系、SQL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会话冗余 owner_id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经 source 追溯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避免传递依赖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生成列存 content_hash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md5 表达式索引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避免 3NF 争议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仅按 annotation_id 唯一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(user_id, annotation_id)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多人可各自复习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只靠 prompt 保护 T2SQL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只读角色 + 视图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数据库层兜底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AI 建议直接入库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人工确认 + 复用总结批注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避免污染与重复表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中文全文检索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pg_trgm + ILIKE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中文分词不可靠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先修图只在应用层防环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触发器递归 CTE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所有写入入口共享约束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直接用 RLS 替换权限视图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视图为主 + RLS 对比实验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策略维护与属主绕过成本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全表审计复制旧值/新值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只审计结构表的元数据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24"/>
                          </a:solidFill>
                          <a:latin typeface="Microsoft YaHei"/>
                        </a:rPr>
                        <a:t>隐私边界与管理员可见性</a:t>
                      </a:r>
                    </a:p>
                  </a:txBody>
                  <a:tcPr marL="73152" marR="54864" marT="27432" marB="27432" anchor="ctr"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21040" y="1481328"/>
            <a:ext cx="3200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481328"/>
            <a:ext cx="73152" cy="1417320"/>
          </a:xfrm>
          <a:prstGeom prst="rect">
            <a:avLst/>
          </a:prstGeom>
          <a:solidFill>
            <a:srgbClr val="2F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0496" y="1645920"/>
            <a:ext cx="2779776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D4E"/>
                </a:solidFill>
                <a:latin typeface="Microsoft YaHei"/>
              </a:rPr>
              <a:t>AI 擅长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0496" y="2029968"/>
            <a:ext cx="2779776" cy="88696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生成样板代码、补测试、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审查 SQL 与文档一致性。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063240"/>
            <a:ext cx="3200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3063240"/>
            <a:ext cx="73152" cy="1417320"/>
          </a:xfrm>
          <a:prstGeom prst="rect">
            <a:avLst/>
          </a:prstGeom>
          <a:solidFill>
            <a:srgbClr val="B46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3227832"/>
            <a:ext cx="2779776" cy="310896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693F"/>
                </a:solidFill>
                <a:latin typeface="Microsoft YaHei"/>
              </a:rPr>
              <a:t>人负责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3611880"/>
            <a:ext cx="2779776" cy="88696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业务语义、权限边界、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6C756F"/>
                </a:solidFill>
                <a:latin typeface="Microsoft YaHei"/>
              </a:rPr>
              <a:t>取舍理由与最终验收。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138928"/>
            <a:ext cx="10863072" cy="868680"/>
          </a:xfrm>
          <a:prstGeom prst="roundRect">
            <a:avLst>
              <a:gd name="adj" fmla="val 6000"/>
            </a:avLst>
          </a:prstGeom>
          <a:solidFill>
            <a:srgbClr val="EC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57800"/>
            <a:ext cx="10424160" cy="64008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F5D4E"/>
                </a:solidFill>
                <a:latin typeface="Microsoft YaHei"/>
              </a:rPr>
              <a:t>协作原则：AI 可以提出方案，但不能替代对数据模型与安全边界的判断；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2F5D4E"/>
                </a:solidFill>
                <a:latin typeface="Microsoft YaHei"/>
              </a:rPr>
              <a:t>每一次拒绝与修正都记录在 docs/ai-collaboration.md。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4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6949440" cy="29260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C8A8"/>
                </a:solidFill>
                <a:latin typeface="Microsoft YaHei"/>
              </a:rPr>
              <a:t>16 /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7589520" cy="82296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一个可运行、可验证、可复现的</a:t>
            </a:r>
          </a:p>
          <a:p>
            <a:pPr algn="l">
              <a:lnSpc>
                <a:spcPct val="118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数据库课程项目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D9C8A8"/>
                </a:solidFill>
                <a:latin typeface="Microsoft YaHei"/>
              </a:rPr>
              <a:t>• 8 个核心实体，16 张表，完整 E-R 与范式分析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D9C8A8"/>
                </a:solidFill>
                <a:latin typeface="Microsoft YaHei"/>
              </a:rPr>
              <a:t>• 导入、检索、批注、复习、统计、导出的闭环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D9C8A8"/>
                </a:solidFill>
                <a:latin typeface="Microsoft YaHei"/>
              </a:rPr>
              <a:t>• 令牌 + 扩展 + 平台导出，离线也可读可复习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D9C8A8"/>
                </a:solidFill>
                <a:latin typeface="Microsoft YaHei"/>
              </a:rPr>
              <a:t>• 标签先修图：触发器防环 + 递归闭包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D9C8A8"/>
                </a:solidFill>
                <a:latin typeface="Microsoft YaHei"/>
              </a:rPr>
              <a:t>• Text2SQL 由只读视图与角色做最终兜底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D9C8A8"/>
                </a:solidFill>
                <a:latin typeface="Microsoft YaHei"/>
              </a:rPr>
              <a:t>• 结构变更可审计，但审计不复制学习内容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D9C8A8"/>
                </a:solidFill>
                <a:latin typeface="Microsoft YaHei"/>
              </a:rPr>
              <a:t>• 274 项测试 + 41 项验收，全部通过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D9C8A8"/>
                </a:solidFill>
                <a:latin typeface="Microsoft YaHei"/>
              </a:rPr>
              <a:t>• README 五条命令从零复现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417320"/>
            <a:ext cx="4572000" cy="3657600"/>
          </a:xfrm>
          <a:prstGeom prst="roundRect">
            <a:avLst>
              <a:gd name="adj" fmla="val 6000"/>
            </a:avLst>
          </a:prstGeom>
          <a:solidFill>
            <a:srgbClr val="2B5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608" y="1627632"/>
            <a:ext cx="4069080" cy="292608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C8A8"/>
                </a:solidFill>
                <a:latin typeface="Microsoft YaHei"/>
              </a:rPr>
              <a:t>已知限制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0608" y="2103120"/>
            <a:ext cx="3977639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B4693F"/>
                </a:solidFill>
                <a:latin typeface="Microsoft YaHei"/>
              </a:rPr>
              <a:t>• 单机课程项目，未做分布式与高并发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B4693F"/>
                </a:solidFill>
                <a:latin typeface="Microsoft YaHei"/>
              </a:rPr>
              <a:t>• 420 条消息下规划器通常选顺序扫描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B4693F"/>
                </a:solidFill>
                <a:latin typeface="Microsoft YaHei"/>
              </a:rPr>
              <a:t>• 默认离线 mock，配置 Key 后走真实模型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B4693F"/>
                </a:solidFill>
                <a:latin typeface="Microsoft YaHei"/>
              </a:rPr>
              <a:t>• 演示数据为模拟问答，不含真实个人信息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5486400" cy="45720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谢谢，欢迎提问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09360"/>
            <a:ext cx="7772400" cy="274320"/>
          </a:xfrm>
          <a:prstGeom prst="rect">
            <a:avLst/>
          </a:prstGeom>
          <a:noFill/>
        </p:spPr>
        <p:txBody>
          <a:bodyPr wrap="square" anchor="t" lIns="36576" tIns="27432" rIns="36576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FB3A6"/>
                </a:solidFill>
                <a:latin typeface="Microsoft YaHei"/>
              </a:rPr>
              <a:t>docs/report.md · docs/design.md · docs/demo-script.md · data/verification/report.json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个人学习空间：把聊天记录变成可复习的课程资料</dc:title>
  <dc:subject>选题 2 · 数据库应用系统</dc:subject>
  <dc:creator>《数据库系统概论》大作业</dc:creator>
  <cp:keywords>PostgreSQL, FastAPI, Text2SQL, E-R, 数据库设计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